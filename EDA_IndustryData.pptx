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741D-218C-47D9-B4D0-1129750E08C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7698-9DF6-44CF-9575-0AB5FE9AD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09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741D-218C-47D9-B4D0-1129750E08C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7698-9DF6-44CF-9575-0AB5FE9AD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367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741D-218C-47D9-B4D0-1129750E08C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7698-9DF6-44CF-9575-0AB5FE9AD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005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741D-218C-47D9-B4D0-1129750E08C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7698-9DF6-44CF-9575-0AB5FE9AD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04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741D-218C-47D9-B4D0-1129750E08C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7698-9DF6-44CF-9575-0AB5FE9ADF8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447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741D-218C-47D9-B4D0-1129750E08C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7698-9DF6-44CF-9575-0AB5FE9AD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49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741D-218C-47D9-B4D0-1129750E08C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7698-9DF6-44CF-9575-0AB5FE9AD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751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741D-218C-47D9-B4D0-1129750E08C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7698-9DF6-44CF-9575-0AB5FE9AD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923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020741D-218C-47D9-B4D0-1129750E08C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7698-9DF6-44CF-9575-0AB5FE9AD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15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741D-218C-47D9-B4D0-1129750E08C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7698-9DF6-44CF-9575-0AB5FE9AD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258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741D-218C-47D9-B4D0-1129750E08C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B7698-9DF6-44CF-9575-0AB5FE9AD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317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020741D-218C-47D9-B4D0-1129750E08C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51B7698-9DF6-44CF-9575-0AB5FE9AD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17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F51A1-58B4-48E3-6F8C-2C9F5842C6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  <a:br>
              <a:rPr lang="en-IN" dirty="0"/>
            </a:br>
            <a:r>
              <a:rPr lang="en-IN" sz="2400" dirty="0"/>
              <a:t>ON INDUSTRY DATA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4B0D4-007E-6A13-8BAD-1FAB6DEB83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1040130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7010-EF39-71C4-4BE3-B5D1376DF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DDB2A-DA0D-B5F0-03CE-D18177A7B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Dataset: INDUSTRY.csv</a:t>
            </a:r>
          </a:p>
          <a:p>
            <a:r>
              <a:rPr lang="en-US" dirty="0"/>
              <a:t>Rows : 15000, Columns : 13</a:t>
            </a:r>
          </a:p>
          <a:p>
            <a:pPr>
              <a:defRPr sz="1800"/>
            </a:pPr>
            <a:r>
              <a:rPr lang="en-US" dirty="0"/>
              <a:t>Missing values: 0 columns affected</a:t>
            </a:r>
          </a:p>
          <a:p>
            <a:pPr>
              <a:defRPr sz="1800"/>
            </a:pPr>
            <a:r>
              <a:rPr lang="en-US" dirty="0"/>
              <a:t>Duplicate rows: 0</a:t>
            </a:r>
          </a:p>
          <a:p>
            <a:pPr>
              <a:defRPr sz="1800"/>
            </a:pPr>
            <a:r>
              <a:rPr lang="en-US" dirty="0"/>
              <a:t>Major columns: </a:t>
            </a:r>
            <a:r>
              <a:rPr lang="en-US" dirty="0" err="1"/>
              <a:t>company_name</a:t>
            </a:r>
            <a:r>
              <a:rPr lang="en-US" dirty="0"/>
              <a:t>, industry, revenue, profit, customers, rating, region, </a:t>
            </a:r>
            <a:r>
              <a:rPr lang="en-US" dirty="0" err="1"/>
              <a:t>created_date</a:t>
            </a:r>
            <a:r>
              <a:rPr lang="en-US" dirty="0"/>
              <a:t>.</a:t>
            </a:r>
          </a:p>
          <a:p>
            <a:pPr>
              <a:defRPr sz="1800"/>
            </a:pPr>
            <a:r>
              <a:rPr lang="en-US" dirty="0"/>
              <a:t>Objective : Summarize key business insights, data quality, and revenue drivers.</a:t>
            </a:r>
          </a:p>
          <a:p>
            <a:pPr>
              <a:defRPr sz="1800"/>
            </a:pPr>
            <a:r>
              <a:rPr lang="en-US" dirty="0"/>
              <a:t>Generated from EDA on numeric and categorical business performance metrics.</a:t>
            </a:r>
          </a:p>
          <a:p>
            <a:pPr>
              <a:defRPr sz="1800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494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1EB1-656A-2928-98A8-13078DEE3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Data Cleaning &amp; Feature Engineering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0132D-62A0-4B2A-75A1-13E2DBB5A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quality: no duplicate rows</a:t>
            </a:r>
          </a:p>
          <a:p>
            <a:r>
              <a:rPr lang="en-US" dirty="0"/>
              <a:t> Date conversion applied to </a:t>
            </a:r>
            <a:r>
              <a:rPr lang="en-US" dirty="0" err="1"/>
              <a:t>created_date</a:t>
            </a:r>
            <a:r>
              <a:rPr lang="en-US" dirty="0"/>
              <a:t>.</a:t>
            </a:r>
          </a:p>
          <a:p>
            <a:pPr>
              <a:defRPr sz="1800"/>
            </a:pPr>
            <a:r>
              <a:rPr lang="en-US" dirty="0"/>
              <a:t>Derived feature: </a:t>
            </a:r>
            <a:r>
              <a:rPr lang="en-US" dirty="0" err="1"/>
              <a:t>company_age</a:t>
            </a:r>
            <a:r>
              <a:rPr lang="en-US" dirty="0"/>
              <a:t> from </a:t>
            </a:r>
            <a:r>
              <a:rPr lang="en-US" dirty="0" err="1"/>
              <a:t>founded_year</a:t>
            </a:r>
            <a:r>
              <a:rPr lang="en-US" dirty="0"/>
              <a:t> when missing.</a:t>
            </a:r>
          </a:p>
          <a:p>
            <a:pPr>
              <a:defRPr sz="1800"/>
            </a:pPr>
            <a:r>
              <a:rPr lang="en-US" dirty="0"/>
              <a:t>Remaining missing values are handled through </a:t>
            </a:r>
            <a:r>
              <a:rPr lang="en-US" dirty="0" err="1"/>
              <a:t>dropna</a:t>
            </a:r>
            <a:r>
              <a:rPr lang="en-US" dirty="0"/>
              <a:t> in analysis plots.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7464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5DE6-4739-D81A-F880-D8AB5280C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621"/>
            <a:ext cx="4906297" cy="559308"/>
          </a:xfrm>
        </p:spPr>
        <p:txBody>
          <a:bodyPr>
            <a:normAutofit fontScale="90000"/>
          </a:bodyPr>
          <a:lstStyle/>
          <a:p>
            <a:r>
              <a:rPr lang="en-IN" dirty="0"/>
              <a:t>Revenue Distribution</a:t>
            </a:r>
          </a:p>
        </p:txBody>
      </p:sp>
      <p:pic>
        <p:nvPicPr>
          <p:cNvPr id="4" name="Content Placeholder 3" descr="revenue_hist.png">
            <a:extLst>
              <a:ext uri="{FF2B5EF4-FFF2-40B4-BE49-F238E27FC236}">
                <a16:creationId xmlns:a16="http://schemas.microsoft.com/office/drawing/2014/main" id="{1EB5EDC1-9C08-B152-B5C6-2CC4FC97B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905" y="1866106"/>
            <a:ext cx="9279259" cy="41241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E2E132-5719-58F3-DAD6-A5E74B644668}"/>
              </a:ext>
            </a:extLst>
          </p:cNvPr>
          <p:cNvSpPr txBox="1"/>
          <p:nvPr/>
        </p:nvSpPr>
        <p:spPr>
          <a:xfrm>
            <a:off x="2814483" y="1266232"/>
            <a:ext cx="61009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US" dirty="0"/>
              <a:t>Revenue is approximately symmetric with limited extreme outliers.</a:t>
            </a:r>
          </a:p>
        </p:txBody>
      </p:sp>
    </p:spTree>
    <p:extLst>
      <p:ext uri="{BB962C8B-B14F-4D97-AF65-F5344CB8AC3E}">
        <p14:creationId xmlns:p14="http://schemas.microsoft.com/office/powerpoint/2010/main" val="1770399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E42C-36F0-2ADE-B1CF-DC6C28789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6785-D0DC-BB9E-BCE4-F86882B3A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621"/>
            <a:ext cx="4906297" cy="559308"/>
          </a:xfrm>
        </p:spPr>
        <p:txBody>
          <a:bodyPr>
            <a:normAutofit fontScale="90000"/>
          </a:bodyPr>
          <a:lstStyle/>
          <a:p>
            <a:pPr>
              <a:defRPr sz="2800"/>
            </a:pPr>
            <a:r>
              <a:rPr lang="en-IN" dirty="0"/>
              <a:t>Revenue Spread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2146B5-0773-271D-CA63-09C993D32869}"/>
              </a:ext>
            </a:extLst>
          </p:cNvPr>
          <p:cNvSpPr txBox="1"/>
          <p:nvPr/>
        </p:nvSpPr>
        <p:spPr>
          <a:xfrm>
            <a:off x="1248697" y="1298187"/>
            <a:ext cx="7725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US" dirty="0"/>
              <a:t>The revenue boxplot confirms a compact central range and few extreme values.</a:t>
            </a:r>
          </a:p>
        </p:txBody>
      </p:sp>
      <p:pic>
        <p:nvPicPr>
          <p:cNvPr id="3" name="Picture 2" descr="revenue_box.png">
            <a:extLst>
              <a:ext uri="{FF2B5EF4-FFF2-40B4-BE49-F238E27FC236}">
                <a16:creationId xmlns:a16="http://schemas.microsoft.com/office/drawing/2014/main" id="{4600A6DD-9856-F76B-3553-7CE0C32C6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8" y="2286000"/>
            <a:ext cx="10140991" cy="281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138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7E4AA-A099-6EBC-E3FA-58DF2FBAA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5EEB5-C700-24F6-C326-2DFD5D196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621"/>
            <a:ext cx="7924800" cy="559308"/>
          </a:xfrm>
        </p:spPr>
        <p:txBody>
          <a:bodyPr>
            <a:normAutofit fontScale="90000"/>
          </a:bodyPr>
          <a:lstStyle/>
          <a:p>
            <a:pPr>
              <a:defRPr sz="2800"/>
            </a:pPr>
            <a:r>
              <a:rPr lang="en-IN" dirty="0"/>
              <a:t>Industry and Region 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E7A63-DB20-116B-95CE-0232AE4EABEB}"/>
              </a:ext>
            </a:extLst>
          </p:cNvPr>
          <p:cNvSpPr txBox="1"/>
          <p:nvPr/>
        </p:nvSpPr>
        <p:spPr>
          <a:xfrm>
            <a:off x="1312606" y="1167976"/>
            <a:ext cx="8101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/>
            </a:pPr>
            <a:r>
              <a:rPr lang="en-US" dirty="0"/>
              <a:t>Industry and region are key categorical drivers. Top industries appear most frequently and </a:t>
            </a:r>
          </a:p>
          <a:p>
            <a:pPr algn="ctr">
              <a:defRPr sz="1600"/>
            </a:pPr>
            <a:r>
              <a:rPr lang="en-US" dirty="0"/>
              <a:t>regional revenue share varies by geography.</a:t>
            </a:r>
          </a:p>
        </p:txBody>
      </p:sp>
      <p:pic>
        <p:nvPicPr>
          <p:cNvPr id="4" name="Picture 3" descr="industry_counts.png">
            <a:extLst>
              <a:ext uri="{FF2B5EF4-FFF2-40B4-BE49-F238E27FC236}">
                <a16:creationId xmlns:a16="http://schemas.microsoft.com/office/drawing/2014/main" id="{5D4B3C69-BAF3-3757-2012-429D4456B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697" y="2032424"/>
            <a:ext cx="8229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29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D69A7-2F86-EDFF-1642-1CFF56DF4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ECFC-30BA-FFF7-2982-1C03D8B8E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621"/>
            <a:ext cx="7924800" cy="559308"/>
          </a:xfrm>
        </p:spPr>
        <p:txBody>
          <a:bodyPr>
            <a:normAutofit fontScale="90000"/>
          </a:bodyPr>
          <a:lstStyle/>
          <a:p>
            <a:pPr>
              <a:defRPr sz="2800"/>
            </a:pPr>
            <a:r>
              <a:rPr lang="en-IN" dirty="0"/>
              <a:t>Region Revenue Share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8D452-4E1F-5A6E-91DC-F498FB562637}"/>
              </a:ext>
            </a:extLst>
          </p:cNvPr>
          <p:cNvSpPr txBox="1"/>
          <p:nvPr/>
        </p:nvSpPr>
        <p:spPr>
          <a:xfrm>
            <a:off x="7393858" y="2093174"/>
            <a:ext cx="45130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lang="en-US" dirty="0"/>
              <a:t>Major regions contribute the majority of total annual revenue.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/>
            </a:pPr>
            <a:r>
              <a:rPr lang="en-US" dirty="0"/>
              <a:t>North America is having more revenue</a:t>
            </a:r>
          </a:p>
        </p:txBody>
      </p:sp>
      <p:pic>
        <p:nvPicPr>
          <p:cNvPr id="3" name="Picture 2" descr="region_revenue_pie.png">
            <a:extLst>
              <a:ext uri="{FF2B5EF4-FFF2-40B4-BE49-F238E27FC236}">
                <a16:creationId xmlns:a16="http://schemas.microsoft.com/office/drawing/2014/main" id="{5BBA6118-EB84-C6B7-557D-B2EDE62ED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78" y="1378579"/>
            <a:ext cx="6157451" cy="494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903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B7292-35FD-B5F4-5DC2-49DA4A5A3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74FAC-1C3D-DCC8-C9B9-152C1AAE6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621"/>
            <a:ext cx="7924800" cy="559308"/>
          </a:xfrm>
        </p:spPr>
        <p:txBody>
          <a:bodyPr>
            <a:normAutofit fontScale="90000"/>
          </a:bodyPr>
          <a:lstStyle/>
          <a:p>
            <a:pPr>
              <a:defRPr sz="2800"/>
            </a:pPr>
            <a:r>
              <a:rPr lang="en-IN" dirty="0"/>
              <a:t>Bivariate Relationship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5A87D-E941-01EF-6C11-E795F241DE0A}"/>
              </a:ext>
            </a:extLst>
          </p:cNvPr>
          <p:cNvSpPr txBox="1"/>
          <p:nvPr/>
        </p:nvSpPr>
        <p:spPr>
          <a:xfrm>
            <a:off x="2045109" y="1138480"/>
            <a:ext cx="81017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US" dirty="0"/>
              <a:t>Employee count shows a broad trend with revenue but no single tight linear pattern.</a:t>
            </a:r>
          </a:p>
        </p:txBody>
      </p:sp>
      <p:pic>
        <p:nvPicPr>
          <p:cNvPr id="4" name="Picture 3" descr="emp_vs_revenue.png">
            <a:extLst>
              <a:ext uri="{FF2B5EF4-FFF2-40B4-BE49-F238E27FC236}">
                <a16:creationId xmlns:a16="http://schemas.microsoft.com/office/drawing/2014/main" id="{20110024-6B3C-A65A-6B17-ADD49B278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573" y="1687215"/>
            <a:ext cx="82296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55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FAF2D-37E9-E460-B54E-CA522ECA2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40951-7A67-AE86-2FDF-9B10AD7A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621"/>
            <a:ext cx="7924800" cy="559308"/>
          </a:xfrm>
        </p:spPr>
        <p:txBody>
          <a:bodyPr>
            <a:normAutofit fontScale="90000"/>
          </a:bodyPr>
          <a:lstStyle/>
          <a:p>
            <a:pPr>
              <a:defRPr sz="2800"/>
            </a:pPr>
            <a:r>
              <a:rPr lang="en-IN" dirty="0"/>
              <a:t>Feature Correlations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B37CD8-858C-BEE0-C5B2-E186B885C5C3}"/>
              </a:ext>
            </a:extLst>
          </p:cNvPr>
          <p:cNvSpPr txBox="1"/>
          <p:nvPr/>
        </p:nvSpPr>
        <p:spPr>
          <a:xfrm>
            <a:off x="7320117" y="1885732"/>
            <a:ext cx="37632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US" dirty="0"/>
              <a:t>Numeric features show weak-to-moderate correlations; revenue links most with </a:t>
            </a:r>
          </a:p>
          <a:p>
            <a:pPr>
              <a:defRPr sz="1600"/>
            </a:pPr>
            <a:r>
              <a:rPr lang="en-US" dirty="0" err="1"/>
              <a:t>employee_count</a:t>
            </a:r>
            <a:r>
              <a:rPr lang="en-US" dirty="0"/>
              <a:t> and profit margin.</a:t>
            </a:r>
          </a:p>
        </p:txBody>
      </p:sp>
      <p:pic>
        <p:nvPicPr>
          <p:cNvPr id="4" name="Picture 3" descr="corr_heatmap.png">
            <a:extLst>
              <a:ext uri="{FF2B5EF4-FFF2-40B4-BE49-F238E27FC236}">
                <a16:creationId xmlns:a16="http://schemas.microsoft.com/office/drawing/2014/main" id="{78FD224B-A7F9-1FDD-7BBA-B3BB3D49E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2" y="1144843"/>
            <a:ext cx="6091084" cy="456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63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8374A-3CF1-43AA-7432-A68FFBCBD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10A58-F785-17FF-92F9-68225143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621"/>
            <a:ext cx="7924800" cy="559308"/>
          </a:xfrm>
        </p:spPr>
        <p:txBody>
          <a:bodyPr>
            <a:normAutofit fontScale="90000"/>
          </a:bodyPr>
          <a:lstStyle/>
          <a:p>
            <a:pPr>
              <a:defRPr sz="2800"/>
            </a:pPr>
            <a:r>
              <a:rPr lang="en-IN" dirty="0"/>
              <a:t>Company Age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9241B9-CD77-5CEA-9794-2BE28B180D9D}"/>
              </a:ext>
            </a:extLst>
          </p:cNvPr>
          <p:cNvSpPr txBox="1"/>
          <p:nvPr/>
        </p:nvSpPr>
        <p:spPr>
          <a:xfrm>
            <a:off x="879988" y="941835"/>
            <a:ext cx="8726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US" dirty="0"/>
              <a:t>Revenue varies across company age groups; mid-aged companies often show higher average revenue.</a:t>
            </a:r>
          </a:p>
        </p:txBody>
      </p:sp>
      <p:pic>
        <p:nvPicPr>
          <p:cNvPr id="3" name="Picture 2" descr="age_bin_revenue.png">
            <a:extLst>
              <a:ext uri="{FF2B5EF4-FFF2-40B4-BE49-F238E27FC236}">
                <a16:creationId xmlns:a16="http://schemas.microsoft.com/office/drawing/2014/main" id="{9C5ED4EB-1E9E-6F03-7B1B-88CAFEA57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86" y="1667983"/>
            <a:ext cx="8229600" cy="387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71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5E726-2528-4BD3-5D51-E598ACFDA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5C409-6817-80FA-6FF5-F392B5F52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621"/>
            <a:ext cx="7924800" cy="559308"/>
          </a:xfrm>
        </p:spPr>
        <p:txBody>
          <a:bodyPr>
            <a:normAutofit fontScale="90000"/>
          </a:bodyPr>
          <a:lstStyle/>
          <a:p>
            <a:pPr>
              <a:defRPr sz="2800"/>
            </a:pPr>
            <a:r>
              <a:rPr lang="en-IN" dirty="0"/>
              <a:t>Revenue Trend Analysis</a:t>
            </a:r>
          </a:p>
        </p:txBody>
      </p:sp>
      <p:pic>
        <p:nvPicPr>
          <p:cNvPr id="3" name="Picture 2" descr="monthly_revenue.png">
            <a:extLst>
              <a:ext uri="{FF2B5EF4-FFF2-40B4-BE49-F238E27FC236}">
                <a16:creationId xmlns:a16="http://schemas.microsoft.com/office/drawing/2014/main" id="{A8F330BA-CD8C-A647-6614-FBC1C12AA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748" y="1710154"/>
            <a:ext cx="8229600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237BC2-BC0D-8C8C-0210-C224D4993F42}"/>
              </a:ext>
            </a:extLst>
          </p:cNvPr>
          <p:cNvSpPr txBox="1"/>
          <p:nvPr/>
        </p:nvSpPr>
        <p:spPr>
          <a:xfrm>
            <a:off x="1074175" y="1371600"/>
            <a:ext cx="61009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IN" dirty="0"/>
              <a:t>CAGR: -1.14%.</a:t>
            </a:r>
          </a:p>
        </p:txBody>
      </p:sp>
    </p:spTree>
    <p:extLst>
      <p:ext uri="{BB962C8B-B14F-4D97-AF65-F5344CB8AC3E}">
        <p14:creationId xmlns:p14="http://schemas.microsoft.com/office/powerpoint/2010/main" val="310085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2E5AA-E790-517F-F086-0FCB8284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1BAC7-A443-BA6F-D276-DC8CAF092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621"/>
            <a:ext cx="7924800" cy="559308"/>
          </a:xfrm>
        </p:spPr>
        <p:txBody>
          <a:bodyPr>
            <a:normAutofit fontScale="90000"/>
          </a:bodyPr>
          <a:lstStyle/>
          <a:p>
            <a:pPr>
              <a:defRPr sz="2800"/>
            </a:pPr>
            <a:r>
              <a:rPr lang="en-IN" dirty="0"/>
              <a:t>Top Customers &amp; Revenue Leaders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57358A-DF1F-77C8-381A-B7D20505BE60}"/>
              </a:ext>
            </a:extLst>
          </p:cNvPr>
          <p:cNvSpPr txBox="1"/>
          <p:nvPr/>
        </p:nvSpPr>
        <p:spPr>
          <a:xfrm>
            <a:off x="879988" y="941835"/>
            <a:ext cx="8726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US" dirty="0"/>
              <a:t>Top customer count firms are also strong revenue contributors.</a:t>
            </a:r>
          </a:p>
        </p:txBody>
      </p:sp>
      <p:pic>
        <p:nvPicPr>
          <p:cNvPr id="4" name="Picture 3" descr="top_customer_count.png">
            <a:extLst>
              <a:ext uri="{FF2B5EF4-FFF2-40B4-BE49-F238E27FC236}">
                <a16:creationId xmlns:a16="http://schemas.microsoft.com/office/drawing/2014/main" id="{22928C4F-6062-7E76-F672-53D657025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252" y="1441409"/>
            <a:ext cx="82296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709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B946B-8C1A-176B-FD80-6B576B474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5D57-A77D-7951-B814-25328403E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621"/>
            <a:ext cx="7924800" cy="559308"/>
          </a:xfrm>
        </p:spPr>
        <p:txBody>
          <a:bodyPr>
            <a:normAutofit fontScale="90000"/>
          </a:bodyPr>
          <a:lstStyle/>
          <a:p>
            <a:pPr>
              <a:defRPr sz="2800"/>
            </a:pPr>
            <a:r>
              <a:rPr lang="en-IN" dirty="0"/>
              <a:t>Spike Month Contributors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B8CA6-9B9C-6335-6EF3-2843753E0C36}"/>
              </a:ext>
            </a:extLst>
          </p:cNvPr>
          <p:cNvSpPr txBox="1"/>
          <p:nvPr/>
        </p:nvSpPr>
        <p:spPr>
          <a:xfrm>
            <a:off x="879988" y="941835"/>
            <a:ext cx="8726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US" dirty="0"/>
              <a:t>Spike observed in Jan 2025. Top contributors are shown below.</a:t>
            </a:r>
          </a:p>
        </p:txBody>
      </p:sp>
      <p:pic>
        <p:nvPicPr>
          <p:cNvPr id="4" name="Picture 3" descr="spike_contributors.png">
            <a:extLst>
              <a:ext uri="{FF2B5EF4-FFF2-40B4-BE49-F238E27FC236}">
                <a16:creationId xmlns:a16="http://schemas.microsoft.com/office/drawing/2014/main" id="{596FAEAB-2414-BFCF-3159-35B01A183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87" y="1828800"/>
            <a:ext cx="8229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94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A8F8-093B-1647-BFFD-01A7435F1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 and future scope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EAEC67-A16B-4044-CAF2-372F9D0A726A}"/>
              </a:ext>
            </a:extLst>
          </p:cNvPr>
          <p:cNvSpPr/>
          <p:nvPr/>
        </p:nvSpPr>
        <p:spPr>
          <a:xfrm>
            <a:off x="629265" y="2802194"/>
            <a:ext cx="5220929" cy="34412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Analytical findings : </a:t>
            </a:r>
          </a:p>
          <a:p>
            <a:endParaRPr lang="en-US" dirty="0"/>
          </a:p>
          <a:p>
            <a:r>
              <a:rPr lang="en-US" dirty="0"/>
              <a:t>Correlation heatmap provides feature dependency context for predictive modeling.</a:t>
            </a:r>
          </a:p>
          <a:p>
            <a:pPr>
              <a:defRPr sz="1800"/>
            </a:pPr>
            <a:r>
              <a:rPr lang="en-US" dirty="0"/>
              <a:t>Kruskal-Wallis tests and age-bin summaries can help validate revenue differences by category.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2F7AAD-C167-3710-F240-8B21BDD8EDD7}"/>
              </a:ext>
            </a:extLst>
          </p:cNvPr>
          <p:cNvSpPr/>
          <p:nvPr/>
        </p:nvSpPr>
        <p:spPr>
          <a:xfrm>
            <a:off x="6096000" y="2802194"/>
            <a:ext cx="5220929" cy="34412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Conclusion :</a:t>
            </a:r>
          </a:p>
          <a:p>
            <a:endParaRPr lang="en-US" dirty="0"/>
          </a:p>
          <a:p>
            <a:r>
              <a:rPr lang="en-US" dirty="0"/>
              <a:t>Revenue distribution is relatively stable with limited extreme outliers.</a:t>
            </a:r>
          </a:p>
          <a:p>
            <a:pPr>
              <a:defRPr sz="1800"/>
            </a:pPr>
            <a:r>
              <a:rPr lang="en-US" dirty="0"/>
              <a:t>Top industries and regions are key revenue drivers; customer count and company age add practical segmentation value.</a:t>
            </a:r>
          </a:p>
          <a:p>
            <a:pPr>
              <a:defRPr sz="1800"/>
            </a:pPr>
            <a:r>
              <a:rPr lang="en-US" dirty="0"/>
              <a:t>Further analysis should include demand forecasting, churn segmentation, and quarterly profitability modeling.</a:t>
            </a:r>
          </a:p>
        </p:txBody>
      </p:sp>
    </p:spTree>
    <p:extLst>
      <p:ext uri="{BB962C8B-B14F-4D97-AF65-F5344CB8AC3E}">
        <p14:creationId xmlns:p14="http://schemas.microsoft.com/office/powerpoint/2010/main" val="4185027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C9BBD-BD3A-7A96-702E-EECDBAB3C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5E5A48-75B3-D1F1-FB11-60ACCC23EE82}"/>
              </a:ext>
            </a:extLst>
          </p:cNvPr>
          <p:cNvSpPr/>
          <p:nvPr/>
        </p:nvSpPr>
        <p:spPr>
          <a:xfrm>
            <a:off x="1209908" y="1416817"/>
            <a:ext cx="9998110" cy="3707841"/>
          </a:xfrm>
          <a:prstGeom prst="round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800" dirty="0">
                <a:solidFill>
                  <a:schemeClr val="bg2">
                    <a:lumMod val="25000"/>
                  </a:schemeClr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7721527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943</TotalTime>
  <Words>365</Words>
  <Application>Microsoft Office PowerPoint</Application>
  <PresentationFormat>Widescreen</PresentationFormat>
  <Paragraphs>49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Parcel</vt:lpstr>
      <vt:lpstr>EXPLORATORY DATA ANALYSIS ON INDUSTRY DATA</vt:lpstr>
      <vt:lpstr>Objective</vt:lpstr>
      <vt:lpstr>Data Cleaning &amp; Feature Engineering </vt:lpstr>
      <vt:lpstr>Revenue Distribution</vt:lpstr>
      <vt:lpstr>Revenue Spread</vt:lpstr>
      <vt:lpstr>Industry and Region Composition</vt:lpstr>
      <vt:lpstr>Region Revenue Share</vt:lpstr>
      <vt:lpstr>Bivariate Relationship</vt:lpstr>
      <vt:lpstr>Feature Correlations</vt:lpstr>
      <vt:lpstr>Company Age Insights</vt:lpstr>
      <vt:lpstr>Revenue Trend Analysis</vt:lpstr>
      <vt:lpstr>Top Customers &amp; Revenue Leaders</vt:lpstr>
      <vt:lpstr>Spike Month Contributors</vt:lpstr>
      <vt:lpstr>Insights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rathod</dc:creator>
  <cp:lastModifiedBy>rajesh rathod</cp:lastModifiedBy>
  <cp:revision>1</cp:revision>
  <dcterms:created xsi:type="dcterms:W3CDTF">2026-06-06T20:14:58Z</dcterms:created>
  <dcterms:modified xsi:type="dcterms:W3CDTF">2026-06-07T11:58:25Z</dcterms:modified>
</cp:coreProperties>
</file>